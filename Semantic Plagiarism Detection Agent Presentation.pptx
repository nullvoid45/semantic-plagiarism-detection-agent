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58838"/>
            <a:ext cx="11049000" cy="35212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6043612"/>
            <a:ext cx="11049000" cy="3381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2878038" cy="319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3950" y="4022824"/>
            <a:ext cx="10010775" cy="6715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21117" y="542925"/>
            <a:ext cx="21993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 SemiBold"/>
              </a:rPr>
              <a:t>DECEMBER 2026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3950" y="2144613"/>
            <a:ext cx="10511313" cy="118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57"/>
              </a:lnSpc>
            </a:pPr>
            <a:r>
              <a:rPr b="0" sz="4050" i="0" u="none">
                <a:solidFill>
                  <a:srgbClr val="0F172A"/>
                </a:solidFill>
                <a:latin typeface="Plus Jakarta Sans ExtraBold"/>
              </a:rPr>
              <a:t>Semantic Plagiarism</a:t>
            </a:r>
            <a:r>
              <a:t>
</a:t>
            </a:r>
            <a:r>
              <a:rPr b="0" sz="4050" i="0" u="none">
                <a:solidFill>
                  <a:srgbClr val="0F172A"/>
                </a:solidFill>
                <a:latin typeface="Plus Jakarta Sans ExtraBold"/>
              </a:rPr>
              <a:t> Detection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50" y="3470374"/>
            <a:ext cx="100107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Next-Generation Meaning-Based Academic Integrity &amp; Paraphrase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196012"/>
            <a:ext cx="26765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 Medium"/>
              </a:rPr>
              <a:t>McKinsey &amp; BCG Style Architectural Blueprint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34600" y="6196012"/>
            <a:ext cx="1485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 Medium"/>
              </a:rPr>
              <a:t>Confidential | Slide 1 of 10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573881"/>
            <a:ext cx="130075" cy="1238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50" y="4270474"/>
            <a:ext cx="276225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4748B"/>
                </a:solidFill>
                <a:latin typeface="Inter"/>
              </a:rPr>
              <a:t>Domain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Higher Education &amp; Scientific Publishing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7700" y="4270474"/>
            <a:ext cx="2933700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4748B"/>
                </a:solidFill>
                <a:latin typeface="Inter"/>
              </a:rPr>
              <a:t>Core Architecture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Dense Vector Embeddings &amp; Agentic LLMs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1950" y="4270474"/>
            <a:ext cx="9525" cy="4238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2900" y="4270474"/>
            <a:ext cx="3171825" cy="4238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64748B"/>
                </a:solidFill>
                <a:latin typeface="Inter"/>
              </a:rPr>
              <a:t>Key Capability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0" sz="1200" i="0" u="none">
                <a:solidFill>
                  <a:srgbClr val="0F172A"/>
                </a:solidFill>
                <a:latin typeface="Inter SemiBold"/>
              </a:rPr>
              <a:t>Deep Paraphrase &amp; Structural Theft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77150" y="4270474"/>
            <a:ext cx="9525" cy="42386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47403"/>
            <a:ext cx="5357812" cy="386030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687" y="1847403"/>
            <a:ext cx="5357812" cy="386030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190303"/>
            <a:ext cx="2427982" cy="31908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587" y="2190303"/>
            <a:ext cx="2653307" cy="3190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2652266"/>
            <a:ext cx="4905613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3A8A"/>
                </a:solidFill>
                <a:latin typeface="Plus Jakarta Sans"/>
              </a:rPr>
              <a:t>Verbatim N-Gram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76141"/>
            <a:ext cx="4672012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Traditional detection tools (e.g., Turnitin, iThenticate) rely heavily on exact string character matching and sequential word n-grams.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5587" y="2652266"/>
            <a:ext cx="4905613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3A8A"/>
                </a:solidFill>
                <a:latin typeface="Plus Jakarta Sans"/>
              </a:rPr>
              <a:t>Agentic Semantic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5587" y="3176141"/>
            <a:ext cx="467201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Our proposed architecture replaces surface matching with deep natural language understanding and multi-stage vector search.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275" y="2287934"/>
            <a:ext cx="13007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81100" y="4050357"/>
            <a:ext cx="44053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Easily bypassed by modern AI rewriting tools (e.g., ChatGPT, QuillBot).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4631382"/>
            <a:ext cx="44053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Fails on active-to-passive voice shifts and clause reorganization.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100" y="4998094"/>
            <a:ext cx="44053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Blind to cross-lingual translation and structural concept theft.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8462" y="2287934"/>
            <a:ext cx="130075" cy="1238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72287" y="3806576"/>
            <a:ext cx="44053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Encodes context into 768-dimensional dense vector embeddings.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2287" y="4387601"/>
            <a:ext cx="44053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Evaluates structural flow and latent semantic similarity.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2287" y="4754314"/>
            <a:ext cx="44053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Employs LLM agentic reasoning to eliminate false positives.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The Plagiarism Detection Crisis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1500" y="887610"/>
            <a:ext cx="598467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069407"/>
            <a:ext cx="15240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650432"/>
            <a:ext cx="15240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5017144"/>
            <a:ext cx="152400" cy="1524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587" y="3825626"/>
            <a:ext cx="15240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587" y="4406651"/>
            <a:ext cx="152400" cy="1524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5587" y="4773364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73360"/>
            <a:ext cx="11049000" cy="4243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654873"/>
            <a:ext cx="11049000" cy="73342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1025" y="1182885"/>
          <a:ext cx="11029948" cy="422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31082"/>
                <a:gridCol w="1480095"/>
                <a:gridCol w="1647825"/>
                <a:gridCol w="1876871"/>
                <a:gridCol w="3794075"/>
              </a:tblGrid>
              <a:tr h="704056"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Plagiarism Pattern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Frequency Rank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Problematic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Detection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Primary Risk Factor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7040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Paraphrasing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2563EB"/>
                          </a:solidFill>
                          <a:latin typeface="Inter"/>
                        </a:rPr>
                        <a:t>75%</a:t>
                      </a:r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 (Rank 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7.8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91B1B"/>
                          </a:solidFill>
                          <a:latin typeface="Inter"/>
                        </a:rPr>
                        <a:t>Very 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Obfuscates lexical matches while retaining idea 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40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Repetitive Research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71% (Rank 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6.5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Self-plagiarism across multiple paper submissions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0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Secondary Source Masking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69% (Rank 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5.2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Uncited original citations buried in bibliography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04056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Structural Remix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63% (Rank 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8.9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991B1B"/>
                          </a:solidFill>
                          <a:latin typeface="Inter"/>
                        </a:rPr>
                        <a:t>Critical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Re-orders arguments across different sub-sections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0405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Verbatim Copying (Clone)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59% (Rank 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9.5 / 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Easily flagged by legacy exact string matchers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5807273"/>
            <a:ext cx="10553700" cy="428625"/>
          </a:xfrm>
          <a:prstGeom prst="rect">
            <a:avLst/>
          </a:prstGeom>
          <a:noFill/>
        </p:spPr>
        <p:txBody>
          <a:bodyPr wrap="square" lIns="180975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1E3A8A"/>
                </a:solidFill>
                <a:latin typeface="Inter"/>
              </a:rPr>
              <a:t>Key Strategic Insight:</a:t>
            </a:r>
            <a:r>
              <a:rPr b="0" sz="1125" i="0" u="none">
                <a:solidFill>
                  <a:srgbClr val="1E3A8A"/>
                </a:solidFill>
                <a:latin typeface="Inter Medium"/>
              </a:rPr>
              <a:t> While direct verbatim cloning carries high individual penalties, high-frequency tactics like paraphrasing and structural remixing create 80%+ of systemic detection gaps in academia today.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835848"/>
            <a:ext cx="104775" cy="14287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1025" y="2644973"/>
            <a:ext cx="2231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2107" y="2644973"/>
            <a:ext cx="1480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2203" y="2644973"/>
            <a:ext cx="1647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0028" y="2644973"/>
            <a:ext cx="1876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6899" y="2644973"/>
            <a:ext cx="3794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387923"/>
            <a:ext cx="2231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2107" y="3387923"/>
            <a:ext cx="1480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2203" y="3387923"/>
            <a:ext cx="1647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0028" y="3387923"/>
            <a:ext cx="1876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16899" y="3387923"/>
            <a:ext cx="3794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1025" y="4130873"/>
            <a:ext cx="2231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2107" y="4130873"/>
            <a:ext cx="1480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2203" y="4130873"/>
            <a:ext cx="1647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0028" y="4130873"/>
            <a:ext cx="1876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6899" y="4130873"/>
            <a:ext cx="3794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1025" y="4873823"/>
            <a:ext cx="22310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12107" y="4873823"/>
            <a:ext cx="14800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2203" y="4873823"/>
            <a:ext cx="16478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0028" y="4873823"/>
            <a:ext cx="187687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6899" y="4873823"/>
            <a:ext cx="3794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0528" y="2194917"/>
            <a:ext cx="771078" cy="19526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30528" y="4423767"/>
            <a:ext cx="670619" cy="19526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Plagiarism Frequency &amp; Severity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887610"/>
            <a:ext cx="575607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24980"/>
            <a:ext cx="3524250" cy="3105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75" y="2224980"/>
            <a:ext cx="3524250" cy="3105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0" y="2224980"/>
            <a:ext cx="3524250" cy="31051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520255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6775" y="3225105"/>
            <a:ext cx="175631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1. Literal Plagiarism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6775" y="3606105"/>
            <a:ext cx="2933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Surface-level text copying including exact string replication, self-plagiarism, mosaic text splicing, and uncredited verbatim quotes across documents.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606230"/>
            <a:ext cx="20574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Detectable via Character N-Grams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9150" y="2548830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29150" y="3253680"/>
            <a:ext cx="242233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2. Intelligent Paraphrasing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3634680"/>
            <a:ext cx="2933700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Sophisticated re-writing including active-to-passive voice conversion, clause inversion, and contextual synonym substitution while keeping sentence order intact.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4849117"/>
            <a:ext cx="21336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1E3A8A"/>
                </a:solidFill>
                <a:latin typeface="Inter SemiBold"/>
              </a:rPr>
              <a:t>Requires Dense Vector Embeddings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1525" y="2520255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1525" y="3225105"/>
            <a:ext cx="23263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3. Structural &amp; Idea Theft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06105"/>
            <a:ext cx="29337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Borrowing core intellectual assets, logical arguments, or scientific frameworks while altering syntax and vocabulary entirely or translating across languages.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606230"/>
            <a:ext cx="19431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2563EB"/>
                </a:solidFill>
                <a:latin typeface="Inter SemiBold"/>
              </a:rPr>
              <a:t>Requires Agentic LLM Reasoning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3937" y="2663130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2025" y="2691705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05825" y="2663130"/>
            <a:ext cx="28575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Literal vs. Intelligent Taxonomy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887610"/>
            <a:ext cx="598199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63305"/>
            <a:ext cx="2541240" cy="15028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19" y="1988939"/>
            <a:ext cx="2541240" cy="15028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339" y="4063305"/>
            <a:ext cx="2541240" cy="15028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259" y="1783258"/>
            <a:ext cx="2541240" cy="17085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1500" y="375850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1525" y="4263330"/>
            <a:ext cx="214119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2563EB"/>
                </a:solidFill>
                <a:latin typeface="Inter"/>
              </a:rPr>
              <a:t>1994 - 1997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491930"/>
            <a:ext cx="22482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MOSS &amp; JPlag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4806255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Syntax tree matching and string comparison focused on software source code integrity.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7444" y="2188964"/>
            <a:ext cx="214119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2563EB"/>
                </a:solidFill>
                <a:latin typeface="Inter"/>
              </a:rPr>
              <a:t>2000 - 2010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7444" y="2417564"/>
            <a:ext cx="22482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Turnitin / iThenticate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7444" y="2731889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Vast web indexing and document fingerprinting based on verbatim word n-grams.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3364" y="4263330"/>
            <a:ext cx="214119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2563EB"/>
                </a:solidFill>
                <a:latin typeface="Inter"/>
              </a:rPr>
              <a:t>2016 - 2020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3364" y="4491930"/>
            <a:ext cx="2248249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Grammarly 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3364" y="4806255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Surface web search integrated with basic dictionary-based synonym &amp; grammar checking.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8809" y="1992808"/>
            <a:ext cx="212214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1" sz="900" i="0" u="none">
                <a:solidFill>
                  <a:srgbClr val="1E3A8A"/>
                </a:solidFill>
                <a:latin typeface="Inter"/>
              </a:rPr>
              <a:t>2026 PROPOSED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8809" y="2221408"/>
            <a:ext cx="2228247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Agentic Semantic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8809" y="2535733"/>
            <a:ext cx="2122140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SBERT embeddings + FAISS vector search + LLM agentic reasoning for deep NLU verification.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Evolution of Detection Tools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887610"/>
            <a:ext cx="643086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746870" y="36823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82790" y="36823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18709" y="36823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54629" y="368230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786235"/>
            <a:ext cx="5550693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Paraphrasing Obfuscation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1500" y="2197596"/>
            <a:ext cx="91692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1500" y="2388096"/>
            <a:ext cx="555069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3A8A"/>
                </a:solidFill>
                <a:latin typeface="Plus Jakarta Sans"/>
              </a:rPr>
              <a:t>How Rewriting Bypasses Legacy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16721"/>
            <a:ext cx="528637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Sentence repositioning, clause inversion, and active-to-passive voice transformation sever identical character sequences. This causes standard n-gram similarity scores to drop below conventional detection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944242"/>
            <a:ext cx="5286375" cy="975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Vector Space Resilience: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Although surface-level words diverge, high-dimensional vector representations retain high cosine similarity because the latent semantic space reflects conceptual meaning rather than raw text string matching.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60699"/>
            <a:ext cx="2578893" cy="30337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8518" y="2260699"/>
            <a:ext cx="2578893" cy="30337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5537" y="2260699"/>
            <a:ext cx="2578893" cy="30337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2556" y="2260699"/>
            <a:ext cx="2597943" cy="30337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555974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260824"/>
            <a:ext cx="165833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Stage 1: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641824"/>
            <a:ext cx="1988343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PDF/DOCX extraction followed by context-aware semantic chunking to preserve sentence boundary integrity.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3793" y="2555974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83793" y="3260824"/>
            <a:ext cx="207229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Stage 2: Vectorization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3793" y="3641824"/>
            <a:ext cx="1988343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Converting text chunks into dense 768-dim numerical vectors using fine-tuned Sentence-BERT (SBERT) models.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0812" y="2555974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0812" y="3260824"/>
            <a:ext cx="208776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Stage 3: Vector 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0812" y="3927574"/>
            <a:ext cx="1988343" cy="1071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Sub-50ms top-K candidate retrieval across reference corpus using FAISS and Cosine Similarity thresholding.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7356" y="2565499"/>
            <a:ext cx="51435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7356" y="3270349"/>
            <a:ext cx="182835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1E3A8A"/>
                </a:solidFill>
                <a:latin typeface="Plus Jakarta Sans"/>
              </a:rPr>
              <a:t>Stage 4: LLM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7356" y="3651349"/>
            <a:ext cx="1988343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Agentic LLM reasoning evaluates candidate pairs to eliminate false positives and score conceptual overlap.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9650" y="2698849"/>
            <a:ext cx="228600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40956" y="2698849"/>
            <a:ext cx="20002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57975" y="2698849"/>
            <a:ext cx="200025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41656" y="2708374"/>
            <a:ext cx="28575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Autonomous Multi-Stage Pipeline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500" y="887610"/>
            <a:ext cx="5470321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08349"/>
            <a:ext cx="4640460" cy="25384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3460" y="4078932"/>
            <a:ext cx="2847082" cy="8334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3417" y="4078932"/>
            <a:ext cx="2847082" cy="8334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898874"/>
            <a:ext cx="385941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1E3A8A"/>
                </a:solidFill>
                <a:latin typeface="Plus Jakarta Sans ExtraBold"/>
              </a:rPr>
              <a:t>92.5%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089499"/>
            <a:ext cx="385941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Paraphrase Detection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470499"/>
            <a:ext cx="385941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Benchmarked on PAN Academic Paraphrase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3460" y="2642741"/>
            <a:ext cx="6128891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b="1" sz="1950" i="0" u="none">
                <a:solidFill>
                  <a:srgbClr val="0F172A"/>
                </a:solidFill>
                <a:latin typeface="Plus Jakarta Sans"/>
              </a:rPr>
              <a:t>Sub-Second High-Scale Filtering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3460" y="3157091"/>
            <a:ext cx="5837039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By projecting input documents into a normalized dense vector space, the system rapidly computes dot product similarity metrics against millions of indexed academic papers.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5860" y="4231332"/>
            <a:ext cx="254228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2563EB"/>
                </a:solidFill>
                <a:latin typeface="Inter"/>
              </a:rPr>
              <a:t>&lt; 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5860" y="4574232"/>
            <a:ext cx="25422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Vector Retrieval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5817" y="4231332"/>
            <a:ext cx="2542282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1" sz="1800" i="0" u="none">
                <a:solidFill>
                  <a:srgbClr val="2563EB"/>
                </a:solidFill>
                <a:latin typeface="Inter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5817" y="4574232"/>
            <a:ext cx="2542282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Cross-Clause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Vector Embedding &amp; Search 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887610"/>
            <a:ext cx="5026818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967805"/>
            <a:ext cx="5357812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967805"/>
            <a:ext cx="5625703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3A8A"/>
                </a:solidFill>
                <a:latin typeface="Plus Jakarta Sans"/>
              </a:rPr>
              <a:t>Intelligent Elimination of False Positives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396430"/>
            <a:ext cx="53578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Once the vector search retrieves potential candidate chunks, an LLM agent evaluates true contextual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015555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Gated Open-Source Model Support: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Utilizes fine-tuned Meta-Llama models hosted locally for data privacy compliance.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596580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Citation Awareness: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Differentiates between legitimate academic references and disguised conceptual theft.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77605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Formula &amp; Term Analysis: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Prevents false flags on standard domain-specific terminology and mathematical definitions.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758630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4155"/>
                </a:solidFill>
                <a:latin typeface="Inter"/>
              </a:rPr>
              <a:t>Granular Mapping: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Aligns flagged passages to precise character offsets for interactive instructor reviews.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12" y="1977330"/>
            <a:ext cx="5338762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LLM Agentic Reasoning 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887610"/>
            <a:ext cx="604033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03460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15630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6655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7768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504" y="1047750"/>
            <a:ext cx="3264842" cy="3190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874716"/>
            <a:ext cx="990600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38487"/>
            <a:ext cx="3174950" cy="135522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8450" y="3138487"/>
            <a:ext cx="3174950" cy="135522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3900" y="3138487"/>
            <a:ext cx="3175099" cy="135522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76250"/>
            <a:ext cx="11049000" cy="5370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95350" y="1509712"/>
            <a:ext cx="104013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b="1" sz="3300" i="0" u="none">
                <a:solidFill>
                  <a:srgbClr val="FFFFFF"/>
                </a:solidFill>
                <a:latin typeface="Plus Jakarta Sans"/>
              </a:rPr>
              <a:t>Diagnostic Plagiarism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4125" y="2281237"/>
            <a:ext cx="7143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Combining high-speed vector indexing with agentic language comprehension guarantees fair, transparent, and accurate academic assessment.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06379" y="1145381"/>
            <a:ext cx="1491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81125" y="3376612"/>
            <a:ext cx="2833635" cy="242887"/>
          </a:xfrm>
          <a:prstGeom prst="rect">
            <a:avLst/>
          </a:prstGeom>
          <a:noFill/>
        </p:spPr>
        <p:txBody>
          <a:bodyPr wrap="square" lIns="158799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60A5FA"/>
                </a:solidFill>
                <a:latin typeface="Plus Jakarta Sans"/>
              </a:rPr>
              <a:t>Aggregate Similarity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1125" y="3695700"/>
            <a:ext cx="26987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Combines verbatim character match % with semantic overlap degree into a unified risk metric.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6575" y="3376612"/>
            <a:ext cx="2833635" cy="242887"/>
          </a:xfrm>
          <a:prstGeom prst="rect">
            <a:avLst/>
          </a:prstGeom>
          <a:noFill/>
        </p:spPr>
        <p:txBody>
          <a:bodyPr wrap="square" lIns="177849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60A5FA"/>
                </a:solidFill>
                <a:latin typeface="Plus Jakarta Sans"/>
              </a:rPr>
              <a:t>Side-by-Side Heatmap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6575" y="3695700"/>
            <a:ext cx="269870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Interactive visual interface highlighting exact sentence alignments and reworded phrases.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2025" y="3376612"/>
            <a:ext cx="2833791" cy="242887"/>
          </a:xfrm>
          <a:prstGeom prst="rect">
            <a:avLst/>
          </a:prstGeom>
          <a:noFill/>
        </p:spPr>
        <p:txBody>
          <a:bodyPr wrap="square" lIns="196899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60A5FA"/>
                </a:solidFill>
                <a:latin typeface="Plus Jakarta Sans"/>
              </a:rPr>
              <a:t>Verified Source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2025" y="3695700"/>
            <a:ext cx="26988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Directly links flagged paragraphs back to primary reference texts and cross-lingual sources.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1125" y="3414712"/>
            <a:ext cx="158799" cy="1619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46575" y="3414712"/>
            <a:ext cx="177849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2025" y="3414712"/>
            <a:ext cx="196899" cy="161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4375" y="3010792"/>
            <a:ext cx="107632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4375" y="3772792"/>
            <a:ext cx="10763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4375" y="3772792"/>
            <a:ext cx="10763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153667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9750" y="3160811"/>
            <a:ext cx="9667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https://milnepublishing.geneseo.edu/app/uploads/sites/276/2024/03/Neural-Network-1024x823.jpg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3394174"/>
            <a:ext cx="9667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milnepublishing.geneseo.edu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92519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09750" y="3932336"/>
            <a:ext cx="966787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https://focalx.ai/wp-content/uploads/2025/02/u5314787389_A_modern_futuristic_visualization_of_artificial_i_444bb010-e49f-46a3-9c3e-8f7b334b9dd8_3-min.webp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4165699"/>
            <a:ext cx="96678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focalx.ai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887610"/>
            <a:ext cx="849019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